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96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5" r:id="rId13"/>
    <p:sldId id="321" r:id="rId14"/>
    <p:sldId id="323" r:id="rId15"/>
    <p:sldId id="324" r:id="rId16"/>
    <p:sldId id="336" r:id="rId17"/>
    <p:sldId id="325" r:id="rId18"/>
    <p:sldId id="328" r:id="rId19"/>
    <p:sldId id="339" r:id="rId20"/>
    <p:sldId id="340" r:id="rId21"/>
    <p:sldId id="343" r:id="rId22"/>
    <p:sldId id="341" r:id="rId23"/>
    <p:sldId id="342" r:id="rId24"/>
    <p:sldId id="344" r:id="rId25"/>
    <p:sldId id="330" r:id="rId26"/>
    <p:sldId id="332" r:id="rId27"/>
    <p:sldId id="333" r:id="rId28"/>
    <p:sldId id="294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46" autoAdjust="0"/>
    <p:restoredTop sz="94660"/>
  </p:normalViewPr>
  <p:slideViewPr>
    <p:cSldViewPr showGuides="1">
      <p:cViewPr>
        <p:scale>
          <a:sx n="58" d="100"/>
          <a:sy n="58" d="100"/>
        </p:scale>
        <p:origin x="170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22ADE-7FA5-49E6-9043-10BDBF5D7DE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72DDBC-ECC6-45F6-AF4C-A3AE10AC719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  <p:transition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</p:spTree>
  </p:cSld>
  <p:clrMapOvr>
    <a:masterClrMapping/>
  </p:clrMapOvr>
  <p:transition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  <a:p>
            <a:pPr lvl="1" eaLnBrk="1" latinLnBrk="0" hangingPunct="1"/>
            <a:r>
              <a:rPr kumimoji="0" lang="en-US"/>
              <a:t>Second level</a:t>
            </a:r>
            <a:endParaRPr kumimoji="0" lang="en-US"/>
          </a:p>
          <a:p>
            <a:pPr lvl="2" eaLnBrk="1" latinLnBrk="0" hangingPunct="1"/>
            <a:r>
              <a:rPr kumimoji="0" lang="en-US"/>
              <a:t>Third level</a:t>
            </a:r>
            <a:endParaRPr kumimoji="0" lang="en-US"/>
          </a:p>
          <a:p>
            <a:pPr lvl="3" eaLnBrk="1" latinLnBrk="0" hangingPunct="1"/>
            <a:r>
              <a:rPr kumimoji="0" lang="en-US"/>
              <a:t>Fourth level</a:t>
            </a:r>
            <a:endParaRPr kumimoji="0" lang="en-US"/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split orient="vert"/>
  </p:transition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 panose="05000000000000000000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 panose="05020102010507070707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 panose="05000000000000000000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 panose="05000000000000000000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 panose="05000000000000000000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0"/>
            <a:ext cx="8153400" cy="1219200"/>
          </a:xfrm>
        </p:spPr>
        <p:txBody>
          <a:bodyPr>
            <a:noAutofit/>
          </a:bodyPr>
          <a:lstStyle/>
          <a:p>
            <a:pPr algn="ctr"/>
            <a:r>
              <a:rPr dirty="0"/>
              <a:t>Performance Analysis of AI Enabled Healthcare Chatbot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0500" y="1496860"/>
            <a:ext cx="8801100" cy="536114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algn="ctr">
              <a:buNone/>
            </a:pPr>
            <a:endParaRPr lang="en-US" dirty="0"/>
          </a:p>
          <a:p>
            <a:pPr marL="0" indent="0" algn="ctr">
              <a:buNone/>
              <a:defRPr sz="1800"/>
            </a:pPr>
            <a:br>
              <a:rPr dirty="0"/>
            </a:br>
            <a:br>
              <a:rPr dirty="0"/>
            </a:br>
            <a:endParaRPr lang="en-IN" dirty="0"/>
          </a:p>
          <a:p>
            <a:pPr marL="0" indent="0" algn="ctr">
              <a:buNone/>
              <a:defRPr sz="1800"/>
            </a:pPr>
            <a:endParaRPr lang="en-GB" dirty="0"/>
          </a:p>
          <a:p>
            <a:pPr marL="0" indent="0" algn="ctr">
              <a:buNone/>
              <a:defRPr sz="1800"/>
            </a:pPr>
            <a:endParaRPr lang="en-IN" dirty="0"/>
          </a:p>
          <a:p>
            <a:pPr marL="0" indent="0" algn="ctr">
              <a:buNone/>
              <a:defRPr sz="1800"/>
            </a:pPr>
            <a:r>
              <a:rPr sz="2000" dirty="0"/>
              <a:t>Under the Guidance of:</a:t>
            </a:r>
            <a:endParaRPr lang="en-IN" sz="2000" dirty="0"/>
          </a:p>
          <a:p>
            <a:pPr marL="0" indent="0" algn="ctr">
              <a:buNone/>
              <a:defRPr sz="1800"/>
            </a:pPr>
            <a:r>
              <a:rPr sz="2000" dirty="0"/>
              <a:t> </a:t>
            </a:r>
            <a:r>
              <a:rPr lang="en-IN" sz="2000" b="1" dirty="0"/>
              <a:t>M.Sai Kumar (MTech)</a:t>
            </a:r>
            <a:endParaRPr lang="en-IN" sz="2000" b="1" dirty="0"/>
          </a:p>
          <a:p>
            <a:pPr marL="0" indent="0" algn="ctr">
              <a:buNone/>
              <a:defRPr sz="1800"/>
            </a:pPr>
            <a:r>
              <a:rPr lang="en-IN" sz="2000" b="1" dirty="0"/>
              <a:t>Asst </a:t>
            </a:r>
            <a:r>
              <a:rPr lang="en-IN" sz="2000" b="1" dirty="0" err="1"/>
              <a:t>proff</a:t>
            </a:r>
            <a:endParaRPr lang="en-IN" sz="2000" b="1" dirty="0"/>
          </a:p>
          <a:p>
            <a:pPr marL="0" indent="0" algn="ctr">
              <a:buNone/>
              <a:defRPr sz="1800"/>
            </a:pPr>
            <a:endParaRPr lang="en-GB" dirty="0"/>
          </a:p>
          <a:p>
            <a:pPr marL="0" indent="0" algn="ctr">
              <a:buNone/>
              <a:defRPr sz="1800"/>
            </a:pPr>
            <a:endParaRPr lang="en-GB" dirty="0"/>
          </a:p>
          <a:p>
            <a:pPr marL="0" indent="0" algn="ctr">
              <a:buNone/>
              <a:defRPr sz="1800"/>
            </a:pPr>
            <a:endParaRPr lang="en-IN" dirty="0"/>
          </a:p>
          <a:p>
            <a:pPr marL="0" indent="0" algn="ctr">
              <a:buNone/>
              <a:defRPr sz="1800"/>
            </a:pPr>
            <a:endParaRPr lang="en-GB" dirty="0"/>
          </a:p>
          <a:p>
            <a:pPr marL="0" indent="0" algn="ctr">
              <a:buNone/>
              <a:defRPr sz="1800"/>
            </a:pPr>
            <a:br>
              <a:rPr dirty="0"/>
            </a:br>
            <a:r>
              <a:rPr sz="2200" dirty="0"/>
              <a:t>DEPARTMENT OF COMPUTER SCIENCE AND ENGINEERING (Data Science)</a:t>
            </a:r>
            <a:br>
              <a:rPr sz="2200" dirty="0"/>
            </a:br>
            <a:r>
              <a:rPr sz="2200" dirty="0"/>
              <a:t>SRI VENKATESWARA COLLEGE OF ENGINEERING (Autonomous)</a:t>
            </a:r>
            <a:br>
              <a:rPr sz="2200" dirty="0"/>
            </a:br>
            <a:r>
              <a:rPr sz="2200" dirty="0" err="1"/>
              <a:t>Karakambadi</a:t>
            </a:r>
            <a:r>
              <a:rPr sz="2200" dirty="0"/>
              <a:t> Road, Tirupati – 517507</a:t>
            </a:r>
            <a:br>
              <a:rPr sz="2200" dirty="0"/>
            </a:br>
            <a:r>
              <a:rPr sz="2200" dirty="0"/>
              <a:t>Batch: 2022 – 2026</a:t>
            </a:r>
            <a:endParaRPr sz="22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0" y="1486422"/>
          <a:ext cx="6248400" cy="1615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48400"/>
              </a:tblGrid>
              <a:tr h="1615440">
                <a:tc>
                  <a:txBody>
                    <a:bodyPr/>
                    <a:lstStyle/>
                    <a:p>
                      <a:pPr marL="0" indent="0" algn="ctr">
                        <a:buNone/>
                        <a:defRPr sz="1800"/>
                      </a:pPr>
                      <a:r>
                        <a:rPr lang="en-IN" sz="2000" dirty="0"/>
                        <a:t>By</a:t>
                      </a:r>
                      <a:endParaRPr lang="en-IN" sz="2000" dirty="0"/>
                    </a:p>
                    <a:p>
                      <a:pPr marL="0" indent="0" algn="ctr">
                        <a:buNone/>
                        <a:defRPr sz="1800"/>
                      </a:pPr>
                      <a:r>
                        <a:rPr lang="en-IN" sz="2000" b="1" dirty="0"/>
                        <a:t>Gude Reddy Leela(22BFA32036)</a:t>
                      </a:r>
                      <a:br>
                        <a:rPr lang="en-IN" sz="2000" b="1" dirty="0"/>
                      </a:br>
                      <a:r>
                        <a:rPr lang="en-IN" sz="2000" b="1"/>
                        <a:t>   </a:t>
                      </a:r>
                      <a:r>
                        <a:rPr lang="en-IN" sz="2000" b="1" dirty="0"/>
                        <a:t>Lavanya Sangaraju (22BFA32060)</a:t>
                      </a:r>
                      <a:endParaRPr lang="en-IN" sz="2000" b="1" dirty="0"/>
                    </a:p>
                    <a:p>
                      <a:pPr marL="0" indent="0" algn="ctr">
                        <a:buNone/>
                        <a:defRPr sz="1800"/>
                      </a:pPr>
                      <a:r>
                        <a:rPr lang="en-IN" sz="2000" b="1" dirty="0"/>
                        <a:t>Maneesh Kumar (22BFA32001)</a:t>
                      </a:r>
                      <a:br>
                        <a:rPr lang="en-IN" sz="2000" b="1" dirty="0"/>
                      </a:br>
                      <a:r>
                        <a:rPr lang="en-IN" sz="2000" b="1" dirty="0" err="1"/>
                        <a:t>Akkili</a:t>
                      </a:r>
                      <a:r>
                        <a:rPr lang="en-IN" sz="2000" b="1" dirty="0"/>
                        <a:t> </a:t>
                      </a:r>
                      <a:r>
                        <a:rPr lang="en-IN" sz="2000" b="1" dirty="0" err="1"/>
                        <a:t>Geyasree</a:t>
                      </a:r>
                      <a:r>
                        <a:rPr lang="en-IN" sz="2000" b="1" dirty="0"/>
                        <a:t> (22BFA32004)</a:t>
                      </a:r>
                      <a:endParaRPr lang="en-IN" sz="2000" b="1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000" y="4189005"/>
            <a:ext cx="1296000" cy="1296000"/>
          </a:xfrm>
          <a:prstGeom prst="rect">
            <a:avLst/>
          </a:prstGeom>
        </p:spPr>
      </p:pic>
    </p:spTree>
  </p:cSld>
  <p:clrMapOvr>
    <a:masterClrMapping/>
  </p:clrMapOvr>
  <p:transition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5725" y="1600200"/>
            <a:ext cx="8608695" cy="4961890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Abstract</a:t>
            </a:r>
            <a:endParaRPr lang="en-US" sz="2000" dirty="0"/>
          </a:p>
          <a:p>
            <a:r>
              <a:rPr lang="en-US" sz="2000" dirty="0"/>
              <a:t>Introduction</a:t>
            </a:r>
            <a:endParaRPr lang="en-US" sz="2000" dirty="0"/>
          </a:p>
          <a:p>
            <a:r>
              <a:rPr lang="en-US" sz="2000" dirty="0"/>
              <a:t>Problem Statement</a:t>
            </a:r>
            <a:endParaRPr lang="en-US" sz="2000" dirty="0"/>
          </a:p>
          <a:p>
            <a:r>
              <a:rPr lang="en-US" sz="2000" dirty="0"/>
              <a:t>Existing System</a:t>
            </a:r>
            <a:endParaRPr lang="en-US" sz="2000" dirty="0"/>
          </a:p>
          <a:p>
            <a:r>
              <a:rPr lang="en-US" sz="2000" dirty="0"/>
              <a:t>Disadvantages</a:t>
            </a:r>
            <a:endParaRPr lang="en-US" sz="2000" dirty="0"/>
          </a:p>
          <a:p>
            <a:r>
              <a:rPr lang="en-US" sz="2000" dirty="0"/>
              <a:t>Proposed System</a:t>
            </a:r>
            <a:endParaRPr lang="en-US" sz="2000" dirty="0"/>
          </a:p>
          <a:p>
            <a:r>
              <a:rPr lang="en-US" sz="2000" dirty="0"/>
              <a:t>Advantages</a:t>
            </a:r>
            <a:endParaRPr lang="en-US" sz="2000" dirty="0"/>
          </a:p>
          <a:p>
            <a:r>
              <a:rPr lang="en-US" sz="2000" dirty="0"/>
              <a:t>System Requirements</a:t>
            </a:r>
            <a:endParaRPr lang="en-US" sz="2000" dirty="0"/>
          </a:p>
          <a:p>
            <a:r>
              <a:rPr lang="en-US" sz="2000" dirty="0"/>
              <a:t>Modules</a:t>
            </a:r>
            <a:endParaRPr lang="en-US" sz="2000" dirty="0"/>
          </a:p>
          <a:p>
            <a:r>
              <a:rPr lang="en-US" sz="2000" dirty="0"/>
              <a:t>System Architecture</a:t>
            </a:r>
            <a:endParaRPr lang="en-US" sz="2000" dirty="0"/>
          </a:p>
          <a:p>
            <a:pPr>
              <a:buFont typeface="Wingdings" panose="05000000000000000000" charset="0"/>
              <a:buChar char="o"/>
            </a:pPr>
            <a:r>
              <a:rPr lang="en-US" sz="2000" dirty="0"/>
              <a:t>UML Diagram</a:t>
            </a:r>
            <a:endParaRPr lang="en-US" sz="2000" dirty="0"/>
          </a:p>
          <a:p>
            <a:pPr>
              <a:buFont typeface="Wingdings" panose="05000000000000000000" charset="0"/>
              <a:buChar char="o"/>
            </a:pPr>
            <a:r>
              <a:rPr lang="en-US" sz="2000" dirty="0"/>
              <a:t>Screenshots</a:t>
            </a:r>
            <a:endParaRPr lang="en-US" sz="2000" dirty="0"/>
          </a:p>
          <a:p>
            <a:r>
              <a:rPr lang="en-US" sz="2000" dirty="0"/>
              <a:t>Conclusion</a:t>
            </a:r>
            <a:endParaRPr lang="en-US" sz="2000" dirty="0"/>
          </a:p>
          <a:p>
            <a:r>
              <a:rPr lang="en-US" sz="2000" dirty="0"/>
              <a:t>References</a:t>
            </a:r>
            <a:endParaRPr lang="en-US" sz="2000" dirty="0"/>
          </a:p>
          <a:p>
            <a:endParaRPr lang="en-US" sz="2000" dirty="0"/>
          </a:p>
          <a:p>
            <a:endParaRPr dirty="0"/>
          </a:p>
        </p:txBody>
      </p:sp>
    </p:spTree>
  </p:cSld>
  <p:clrMapOvr>
    <a:masterClrMapping/>
  </p:clrMapOvr>
  <p:transition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endParaRPr sz="2100" dirty="0"/>
          </a:p>
          <a:p>
            <a:r>
              <a:rPr lang="en-US" sz="2100" dirty="0"/>
              <a:t>This project presents an AI-powered healthcare chat assistant that is designed to provide quick and intelligent medical support to users. </a:t>
            </a:r>
            <a:endParaRPr lang="en-US" sz="2100" dirty="0"/>
          </a:p>
          <a:p>
            <a:r>
              <a:rPr lang="en-US" sz="2100" dirty="0"/>
              <a:t>The system interacts with users through a chatbot interface and understands their queries using advanced AI models</a:t>
            </a:r>
            <a:r>
              <a:rPr lang="en-US" sz="2000" dirty="0"/>
              <a:t>.</a:t>
            </a:r>
            <a:endParaRPr lang="en-US" sz="2000" dirty="0"/>
          </a:p>
          <a:p>
            <a:r>
              <a:rPr lang="en-US" sz="2000" dirty="0"/>
              <a:t> Instead of using traditional rule-based methods, this system uses Large Language Models such as Ollama (gemma:2b) for local processing and OpenAI GPT-4 as a backup to ensure better accuracy and reliability.</a:t>
            </a:r>
            <a:endParaRPr lang="en-US" sz="2000" dirty="0"/>
          </a:p>
          <a:p>
            <a:r>
              <a:rPr lang="en-US" sz="2000" dirty="0"/>
              <a:t>The chatbot supports multi-session conversations, which means users can have multiple chats and view their history at any time. </a:t>
            </a:r>
            <a:endParaRPr lang="en-US" sz="2000" dirty="0"/>
          </a:p>
          <a:p>
            <a:r>
              <a:rPr lang="en-US" sz="2000" dirty="0"/>
              <a:t>The backend of the system is developed using Java Spring Boot with JWT-based authentication, and the frontend is built using React and Tailwind CSS. MySQL is used as the database to store user data, chat history, and appointments. </a:t>
            </a:r>
            <a:endParaRPr lang="en-US" sz="2000" dirty="0"/>
          </a:p>
          <a:p>
            <a:r>
              <a:rPr lang="en-US" sz="2000" dirty="0"/>
              <a:t>Overall, this system helps improve healthcare accessibility, reduces response time, and provides a smart and efficient digital healthcare solution.</a:t>
            </a:r>
            <a:endParaRPr lang="en-US" sz="2000" dirty="0"/>
          </a:p>
          <a:p>
            <a:pPr>
              <a:defRPr sz="1800"/>
            </a:pPr>
            <a:endParaRPr lang="en-IN" sz="2000" dirty="0"/>
          </a:p>
        </p:txBody>
      </p:sp>
    </p:spTree>
  </p:cSld>
  <p:clrMapOvr>
    <a:masterClrMapping/>
  </p:clrMapOvr>
  <p:transition>
    <p:split orient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600200"/>
            <a:ext cx="8382000" cy="4495800"/>
          </a:xfrm>
        </p:spPr>
        <p:txBody>
          <a:bodyPr>
            <a:normAutofit fontScale="92500" lnSpcReduction="20000"/>
          </a:bodyPr>
          <a:lstStyle/>
          <a:p>
            <a:endParaRPr dirty="0"/>
          </a:p>
          <a:p>
            <a:r>
              <a:rPr lang="en-US" sz="2000" dirty="0"/>
              <a:t>Access to healthcare services is limited in many areas, especially for quick medical consultation.</a:t>
            </a:r>
            <a:endParaRPr lang="en-US" sz="2000" dirty="0"/>
          </a:p>
          <a:p>
            <a:r>
              <a:rPr lang="en-US" sz="2000" dirty="0"/>
              <a:t>People often need immediate guidance before visiting a doctor but lack reliable solutions.</a:t>
            </a:r>
            <a:endParaRPr lang="en-US" sz="2000" dirty="0"/>
          </a:p>
          <a:p>
            <a:r>
              <a:rPr lang="en-US" sz="2000" dirty="0"/>
              <a:t>AI-powered healthcare assistants provide instant and intelligent responses without physical consultation.</a:t>
            </a:r>
            <a:endParaRPr lang="en-US" sz="2000" dirty="0"/>
          </a:p>
          <a:p>
            <a:r>
              <a:rPr lang="en-US" sz="2000" dirty="0"/>
              <a:t>This project implements a modern full-stack system using Spring Boot and React with AI integration.</a:t>
            </a:r>
            <a:endParaRPr lang="en-US" sz="2000" dirty="0"/>
          </a:p>
          <a:p>
            <a:r>
              <a:rPr lang="en-US" sz="2000" dirty="0"/>
              <a:t>The system uses LLM-based processing instead of traditional NLP to provide accurate and human-like responses.</a:t>
            </a:r>
            <a:endParaRPr lang="en-US" sz="2000" dirty="0"/>
          </a:p>
          <a:p>
            <a:r>
              <a:rPr lang="en-US" sz="2000" dirty="0"/>
              <a:t>It also supports multilingual communication and voice interaction for better accessibility.</a:t>
            </a:r>
            <a:endParaRPr lang="en-US" sz="2000" dirty="0"/>
          </a:p>
          <a:p>
            <a:r>
              <a:rPr lang="en-US" sz="2000" dirty="0"/>
              <a:t>Additionally, it integrates location services and role-based dashboards for real-world usability.</a:t>
            </a:r>
            <a:endParaRPr lang="en-US" sz="2000" dirty="0"/>
          </a:p>
          <a:p>
            <a:pPr>
              <a:defRPr sz="1800"/>
            </a:pPr>
            <a:endParaRPr lang="en-US" sz="2000" dirty="0"/>
          </a:p>
        </p:txBody>
      </p:sp>
    </p:spTree>
  </p:cSld>
  <p:clrMapOvr>
    <a:masterClrMapping/>
  </p:clrMapOvr>
  <p:transition>
    <p:split orient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lang="en-US" sz="2000" dirty="0"/>
              <a:t>Many people do not receive timely medical assistance due to high costs and limited availability of doctors.</a:t>
            </a:r>
            <a:endParaRPr lang="en-US" sz="2000" dirty="0"/>
          </a:p>
          <a:p>
            <a:r>
              <a:rPr lang="en-US" sz="2000" dirty="0"/>
              <a:t>Users often struggle to get quick and reliable medical advice based on symptoms.</a:t>
            </a:r>
            <a:endParaRPr lang="en-US" sz="2000" dirty="0"/>
          </a:p>
          <a:p>
            <a:r>
              <a:rPr lang="en-US" sz="2000" dirty="0"/>
              <a:t>Existing systems do not provide intelligent, real-time, and personalized responses.</a:t>
            </a:r>
            <a:endParaRPr lang="en-US" sz="2000" dirty="0"/>
          </a:p>
          <a:p>
            <a:r>
              <a:rPr lang="en-US" sz="2000" dirty="0"/>
              <a:t>They also lack features like multilingual support, voice interaction, and session-based chat history.</a:t>
            </a:r>
            <a:endParaRPr lang="en-US" sz="2000" dirty="0"/>
          </a:p>
          <a:p>
            <a:r>
              <a:rPr lang="en-US" sz="2000" dirty="0"/>
              <a:t>Users face difficulty in finding nearby hospitals during emergencies.</a:t>
            </a:r>
            <a:endParaRPr lang="en-US" sz="2000" dirty="0"/>
          </a:p>
          <a:p>
            <a:r>
              <a:rPr lang="en-US" sz="2000" dirty="0"/>
              <a:t>Traditional systems are not scalable and fail to provide modern AI-based solutions.</a:t>
            </a:r>
            <a:endParaRPr lang="en-US" sz="2000" dirty="0"/>
          </a:p>
          <a:p>
            <a:r>
              <a:rPr lang="en-US" sz="2000" dirty="0"/>
              <a:t>Hence, there is a need for a full-stack AI-powered healthcare assistant system.</a:t>
            </a:r>
            <a:endParaRPr lang="en-US" sz="2000" dirty="0"/>
          </a:p>
          <a:p>
            <a:pPr>
              <a:defRPr sz="1800"/>
            </a:pPr>
            <a:endParaRPr lang="en-US" sz="2000" dirty="0"/>
          </a:p>
          <a:p>
            <a:pPr marL="0" indent="0">
              <a:buNone/>
              <a:defRPr sz="1800"/>
            </a:pPr>
            <a:endParaRPr lang="en-US" sz="2000" dirty="0"/>
          </a:p>
        </p:txBody>
      </p:sp>
    </p:spTree>
  </p:cSld>
  <p:clrMapOvr>
    <a:masterClrMapping/>
  </p:clrMapOvr>
  <p:transition>
    <p:split orient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endParaRPr dirty="0"/>
          </a:p>
          <a:p>
            <a:r>
              <a:rPr lang="en-US" sz="2000" dirty="0"/>
              <a:t>Existing healthcare chatbot systems are mostly rule-based and depend on predefined responses, so they cannot understand complex user queries properly.</a:t>
            </a:r>
            <a:endParaRPr lang="en-US" sz="2000" dirty="0"/>
          </a:p>
          <a:p>
            <a:r>
              <a:rPr lang="en-US" sz="2000" dirty="0"/>
              <a:t>They do not use advanced AI models like LLMs, which results in less accurate and non-intelligent responses.</a:t>
            </a:r>
            <a:endParaRPr lang="en-US" sz="2000" dirty="0"/>
          </a:p>
          <a:p>
            <a:r>
              <a:rPr lang="en-US" sz="2000" dirty="0"/>
              <a:t>These systems lack important features such as multi-session chat, chat history storage, bilingual communication, and voice interaction.</a:t>
            </a:r>
            <a:endParaRPr lang="en-US" sz="2000" dirty="0"/>
          </a:p>
          <a:p>
            <a:r>
              <a:rPr lang="en-US" sz="2000" dirty="0"/>
              <a:t>They also do not support emergency detection or provide alerts in critical situations.</a:t>
            </a:r>
            <a:endParaRPr lang="en-US" sz="2000" dirty="0"/>
          </a:p>
          <a:p>
            <a:r>
              <a:rPr lang="en-US" sz="2000" dirty="0"/>
              <a:t>Additionally, existing systems do not include location-based services to find nearby hospitals or doctors, and they do not have role-based access for patients, doctors, and admins.</a:t>
            </a:r>
            <a:endParaRPr lang="en-US" sz="2000" dirty="0"/>
          </a:p>
          <a:p>
            <a:r>
              <a:rPr lang="en-US" sz="2000" dirty="0"/>
              <a:t>Due to these limitations, existing systems are less efficient, less interactive, and not suitable for modern healthcare applications.</a:t>
            </a:r>
            <a:endParaRPr lang="en-US" sz="2000" dirty="0"/>
          </a:p>
          <a:p>
            <a:pPr>
              <a:defRPr sz="1800"/>
            </a:pPr>
            <a:endParaRPr sz="2000" dirty="0"/>
          </a:p>
        </p:txBody>
      </p:sp>
    </p:spTree>
  </p:cSld>
  <p:clrMapOvr>
    <a:masterClrMapping/>
  </p:clrMapOvr>
  <p:transition>
    <p:split orient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lang="en-US" sz="2000" dirty="0"/>
              <a:t>Existing systems have limited understanding as they are mostly rule-based and cannot handle complex queries.</a:t>
            </a:r>
            <a:endParaRPr lang="en-US" sz="2000" dirty="0"/>
          </a:p>
          <a:p>
            <a:r>
              <a:rPr lang="en-US" sz="2000" dirty="0"/>
              <a:t>They do not use advanced AI models, resulting in less accurate and non-intelligent responses.</a:t>
            </a:r>
            <a:endParaRPr lang="en-US" sz="2000" dirty="0"/>
          </a:p>
          <a:p>
            <a:r>
              <a:rPr lang="en-US" sz="2000" dirty="0"/>
              <a:t>They lack features like multi-session chat, chat history, and bilingual communication.</a:t>
            </a:r>
            <a:endParaRPr lang="en-US" sz="2000" dirty="0"/>
          </a:p>
          <a:p>
            <a:r>
              <a:rPr lang="en-US" sz="2000" dirty="0"/>
              <a:t>Voice interaction is not supported, making them less user-friendly.</a:t>
            </a:r>
            <a:endParaRPr lang="en-US" sz="2000" dirty="0"/>
          </a:p>
          <a:p>
            <a:r>
              <a:rPr lang="en-US" sz="2000" dirty="0"/>
              <a:t>There is no emergency detection to handle critical situations.</a:t>
            </a:r>
            <a:endParaRPr lang="en-US" sz="2000" dirty="0"/>
          </a:p>
          <a:p>
            <a:r>
              <a:rPr lang="en-US" sz="2000" dirty="0"/>
              <a:t>They do not provide nearby hospital or doctor suggestions using location services.</a:t>
            </a:r>
            <a:endParaRPr lang="en-US" sz="2000" dirty="0"/>
          </a:p>
          <a:p>
            <a:r>
              <a:rPr lang="en-US" sz="2000" dirty="0"/>
              <a:t>They also lack role-based access for patients, doctors, and admins.</a:t>
            </a:r>
            <a:br>
              <a:rPr lang="en-US" sz="2000" dirty="0"/>
            </a:br>
            <a:r>
              <a:rPr lang="en-US" sz="2000" dirty="0"/>
              <a:t>Overall, these systems are less efficient, less interactive, and not suitable for modern healthcare needs.</a:t>
            </a:r>
            <a:endParaRPr lang="en-US" sz="2000" dirty="0"/>
          </a:p>
          <a:p>
            <a:pPr>
              <a:defRPr sz="1800"/>
            </a:pPr>
            <a:endParaRPr lang="en-IN" sz="2000" dirty="0"/>
          </a:p>
        </p:txBody>
      </p:sp>
    </p:spTree>
  </p:cSld>
  <p:clrMapOvr>
    <a:masterClrMapping/>
  </p:clrMapOvr>
  <p:transition>
    <p:split orient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endParaRPr sz="1600" dirty="0"/>
          </a:p>
          <a:p>
            <a:r>
              <a:rPr lang="en-US" sz="1900" dirty="0"/>
              <a:t>The proposed system is a full-stack AI-powered healthcare chat assistant developed using Spring Boot and React.</a:t>
            </a:r>
            <a:endParaRPr lang="en-US" sz="1900" dirty="0"/>
          </a:p>
          <a:p>
            <a:r>
              <a:rPr lang="en-US" sz="1900" dirty="0"/>
              <a:t>It uses advanced AI models like Ollama (gemma:2b) and GPT-4 to provide accurate and intelligent responses.</a:t>
            </a:r>
            <a:endParaRPr lang="en-US" sz="1900" dirty="0"/>
          </a:p>
          <a:p>
            <a:r>
              <a:rPr lang="en-US" sz="1900" dirty="0"/>
              <a:t>The system supports multi-session chat with history, bilingual communication (English and Telugu), and voice interaction.</a:t>
            </a:r>
            <a:endParaRPr lang="en-US" sz="1900" dirty="0"/>
          </a:p>
          <a:p>
            <a:r>
              <a:rPr lang="en-US" sz="1900" dirty="0"/>
              <a:t>It includes emergency detection to alert users in critical situations.</a:t>
            </a:r>
            <a:endParaRPr lang="en-US" sz="1900" dirty="0"/>
          </a:p>
          <a:p>
            <a:r>
              <a:rPr lang="en-US" sz="1900" dirty="0"/>
              <a:t>It also provides nearby hospital and doctor suggestions using location services.</a:t>
            </a:r>
            <a:endParaRPr lang="en-US" sz="1900" dirty="0"/>
          </a:p>
          <a:p>
            <a:r>
              <a:rPr lang="en-US" sz="1900" dirty="0"/>
              <a:t>Role-based access is implemented for patients, doctors, and admins to manage appointments, users, and analytics.</a:t>
            </a:r>
            <a:endParaRPr lang="en-US" sz="1900" dirty="0"/>
          </a:p>
          <a:p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>
              <a:defRPr sz="1800"/>
            </a:pPr>
            <a:r>
              <a:rPr sz="1600" dirty="0"/>
              <a:t> </a:t>
            </a:r>
            <a:endParaRPr lang="en-IN" sz="1600" dirty="0"/>
          </a:p>
        </p:txBody>
      </p:sp>
    </p:spTree>
  </p:cSld>
  <p:clrMapOvr>
    <a:masterClrMapping/>
  </p:clrMapOvr>
  <p:transition>
    <p:split orient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76200"/>
            <a:ext cx="8153400" cy="990600"/>
          </a:xfrm>
        </p:spPr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dirty="0"/>
          </a:p>
          <a:p>
            <a:r>
              <a:rPr sz="2000" dirty="0"/>
              <a:t> </a:t>
            </a:r>
            <a:r>
              <a:rPr lang="en-US" sz="2000" dirty="0"/>
              <a:t>Provides accurate and intelligent responses using advanced AI models.</a:t>
            </a:r>
            <a:endParaRPr lang="en-US" sz="2000" dirty="0"/>
          </a:p>
          <a:p>
            <a:r>
              <a:rPr lang="en-US" sz="2000" dirty="0"/>
              <a:t>Supports multi-session chat with chat history.</a:t>
            </a:r>
            <a:endParaRPr lang="en-US" sz="2000" dirty="0"/>
          </a:p>
          <a:p>
            <a:r>
              <a:rPr lang="en-US" sz="2000" dirty="0"/>
              <a:t>Offers bilingual communication in English and Telugu.</a:t>
            </a:r>
            <a:endParaRPr lang="en-US" sz="2000" dirty="0"/>
          </a:p>
          <a:p>
            <a:r>
              <a:rPr lang="en-US" sz="2000" dirty="0"/>
              <a:t>Includes voice interaction for better user experience.</a:t>
            </a:r>
            <a:endParaRPr lang="en-US" sz="2000" dirty="0"/>
          </a:p>
          <a:p>
            <a:r>
              <a:rPr lang="en-US" sz="2000" dirty="0"/>
              <a:t>Detects emergency situations and alerts users.</a:t>
            </a:r>
            <a:endParaRPr lang="en-US" sz="2000" dirty="0"/>
          </a:p>
          <a:p>
            <a:r>
              <a:rPr lang="en-US" sz="2000" dirty="0"/>
              <a:t>Provides nearby hospital and doctor suggestions.</a:t>
            </a:r>
            <a:endParaRPr lang="en-US" sz="2000" dirty="0"/>
          </a:p>
          <a:p>
            <a:r>
              <a:rPr lang="en-US" sz="2000" dirty="0"/>
              <a:t>Implements secure role-based access for patients, doctors, and admins.</a:t>
            </a:r>
            <a:endParaRPr lang="en-US" sz="2000" dirty="0"/>
          </a:p>
          <a:p>
            <a:r>
              <a:rPr lang="en-US" sz="2000" dirty="0"/>
              <a:t>Scalable, efficient, and suitable for modern healthcare applications.</a:t>
            </a:r>
            <a:endParaRPr lang="en-US" sz="2000" dirty="0"/>
          </a:p>
          <a:p>
            <a:pPr>
              <a:defRPr sz="1800"/>
            </a:pPr>
            <a:endParaRPr lang="en-IN" sz="2000" dirty="0"/>
          </a:p>
        </p:txBody>
      </p:sp>
    </p:spTree>
  </p:cSld>
  <p:clrMapOvr>
    <a:masterClrMapping/>
  </p:clrMapOvr>
  <p:transition>
    <p:split orient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pPr>
              <a:defRPr sz="1800"/>
            </a:pPr>
            <a:r>
              <a:rPr sz="2000" b="1" dirty="0"/>
              <a:t>Hardwar</a:t>
            </a:r>
            <a:r>
              <a:rPr lang="en-IN" sz="2000" b="1" dirty="0"/>
              <a:t>e:</a:t>
            </a:r>
            <a:br>
              <a:rPr sz="2000" dirty="0"/>
            </a:br>
            <a:r>
              <a:rPr sz="2000" dirty="0"/>
              <a:t>• Processor: Intel i3 or above</a:t>
            </a:r>
            <a:br>
              <a:rPr sz="2000" dirty="0"/>
            </a:br>
            <a:r>
              <a:rPr sz="2000" dirty="0"/>
              <a:t>• RAM: 4 GB or higher</a:t>
            </a:r>
            <a:br>
              <a:rPr sz="2000" dirty="0"/>
            </a:br>
            <a:r>
              <a:rPr sz="2000" dirty="0"/>
              <a:t>• HDD: 500 GB or more</a:t>
            </a:r>
            <a:br>
              <a:rPr sz="2000" dirty="0"/>
            </a:br>
            <a:r>
              <a:rPr sz="2000" dirty="0"/>
              <a:t>• Internet: Required</a:t>
            </a:r>
            <a:endParaRPr lang="en-IN" sz="2000" dirty="0"/>
          </a:p>
          <a:p>
            <a:pPr>
              <a:defRPr sz="1800"/>
            </a:pPr>
            <a:r>
              <a:rPr sz="2000" b="1" dirty="0"/>
              <a:t>Software:</a:t>
            </a:r>
            <a:br>
              <a:rPr sz="2000" dirty="0"/>
            </a:br>
            <a:r>
              <a:rPr sz="2000" dirty="0"/>
              <a:t>• </a:t>
            </a:r>
            <a:r>
              <a:rPr lang="en-IN" sz="2000" dirty="0"/>
              <a:t>Backend: Java 17, Spring Boot 3.2</a:t>
            </a:r>
            <a:br>
              <a:rPr lang="en-IN" sz="2000" dirty="0"/>
            </a:br>
            <a:r>
              <a:rPr lang="en-IN" sz="2000" dirty="0"/>
              <a:t>• Frontend: React 18, Vite, Tailwind CSS</a:t>
            </a:r>
            <a:br>
              <a:rPr lang="en-IN" sz="2000" dirty="0"/>
            </a:br>
            <a:r>
              <a:rPr lang="en-IN" sz="2000" dirty="0"/>
              <a:t>• Database: MySQL 8 ( health </a:t>
            </a:r>
            <a:r>
              <a:rPr lang="en-IN" sz="2000" dirty="0" err="1"/>
              <a:t>care_db</a:t>
            </a:r>
            <a:r>
              <a:rPr lang="en-IN" sz="2000" dirty="0"/>
              <a:t> )</a:t>
            </a:r>
            <a:br>
              <a:rPr lang="en-IN" sz="2000" dirty="0"/>
            </a:br>
            <a:r>
              <a:rPr lang="en-IN" sz="2000" dirty="0"/>
              <a:t>• AI: Ollama (gemma:2b), OpenAI GPT-4</a:t>
            </a:r>
            <a:br>
              <a:rPr lang="en-IN" sz="2000" dirty="0"/>
            </a:br>
            <a:r>
              <a:rPr lang="en-IN" sz="2000" dirty="0"/>
              <a:t>• APIs: OpenStreetMap Overpass API</a:t>
            </a:r>
            <a:br>
              <a:rPr lang="en-IN" sz="2000" dirty="0"/>
            </a:br>
            <a:r>
              <a:rPr lang="en-IN" sz="2000" dirty="0"/>
              <a:t>• Tools: VS Code</a:t>
            </a:r>
            <a:endParaRPr sz="2000" dirty="0"/>
          </a:p>
        </p:txBody>
      </p:sp>
    </p:spTree>
  </p:cSld>
  <p:clrMapOvr>
    <a:masterClrMapping/>
  </p:clrMapOvr>
  <p:transition>
    <p:split orient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152400"/>
            <a:ext cx="81534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MODULES OF  HEALTHCARE CHATBOT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105400"/>
          </a:xfrm>
        </p:spPr>
        <p:txBody>
          <a:bodyPr>
            <a:normAutofit/>
          </a:bodyPr>
          <a:lstStyle/>
          <a:p>
            <a:r>
              <a:rPr lang="en-US" sz="2400" b="1" dirty="0"/>
              <a:t>1. AI Chat Module:</a:t>
            </a:r>
            <a:br>
              <a:rPr lang="en-US" sz="2400" dirty="0"/>
            </a:br>
            <a:r>
              <a:rPr lang="en-US" sz="1900" dirty="0"/>
              <a:t>• </a:t>
            </a:r>
            <a:r>
              <a:rPr lang="en-US" sz="2000" dirty="0"/>
              <a:t>Generates intelligent responses using Ollama and GPT-4</a:t>
            </a:r>
            <a:br>
              <a:rPr lang="en-US" sz="2000" dirty="0"/>
            </a:br>
            <a:r>
              <a:rPr lang="en-US" sz="2000" dirty="0"/>
              <a:t>• Supports multi-session chat with history</a:t>
            </a:r>
            <a:br>
              <a:rPr lang="en-US" sz="2000" dirty="0"/>
            </a:br>
            <a:r>
              <a:rPr lang="en-US" sz="2000" dirty="0"/>
              <a:t>• Provides bilingual and real-time interaction</a:t>
            </a:r>
            <a:endParaRPr lang="en-US" sz="2000" dirty="0"/>
          </a:p>
          <a:p>
            <a:r>
              <a:rPr lang="en-US" sz="2400" b="1" dirty="0"/>
              <a:t>2. Authentication Module: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000" dirty="0"/>
              <a:t>Handles user registration and login</a:t>
            </a:r>
            <a:br>
              <a:rPr lang="en-US" sz="2000" dirty="0"/>
            </a:br>
            <a:r>
              <a:rPr lang="en-US" sz="2000" dirty="0"/>
              <a:t>• Implements JWT-based security</a:t>
            </a:r>
            <a:br>
              <a:rPr lang="en-US" sz="2000" dirty="0"/>
            </a:br>
            <a:r>
              <a:rPr lang="en-US" sz="2000" dirty="0"/>
              <a:t>• Provides role-based access control</a:t>
            </a:r>
            <a:endParaRPr lang="en-US" sz="2000" dirty="0"/>
          </a:p>
          <a:p>
            <a:r>
              <a:rPr lang="en-US" sz="2400" b="1" dirty="0"/>
              <a:t>3. User Management Module (Patient &amp; Doctor):</a:t>
            </a:r>
            <a:br>
              <a:rPr lang="en-US" sz="2400" dirty="0"/>
            </a:br>
            <a:r>
              <a:rPr lang="en-US" sz="2000" dirty="0"/>
              <a:t>• Manages user profiles and data</a:t>
            </a:r>
            <a:br>
              <a:rPr lang="en-US" sz="2000" dirty="0"/>
            </a:br>
            <a:r>
              <a:rPr lang="en-US" sz="2000" dirty="0"/>
              <a:t>• Handles appointment booking and tracking</a:t>
            </a:r>
            <a:br>
              <a:rPr lang="en-US" sz="2000" dirty="0"/>
            </a:br>
            <a:r>
              <a:rPr lang="en-US" sz="2000" dirty="0"/>
              <a:t>• Enables doctors to view patients and generate SOAP notes</a:t>
            </a:r>
            <a:endParaRPr lang="en-US" sz="2000" dirty="0"/>
          </a:p>
          <a:p>
            <a:pPr marL="0" indent="0">
              <a:buNone/>
            </a:pPr>
            <a:endParaRPr lang="en-IN" sz="2400" dirty="0"/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orient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MODULES OF HEALTHCARE CHATBOT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02752" cy="5257800"/>
          </a:xfrm>
        </p:spPr>
        <p:txBody>
          <a:bodyPr/>
          <a:lstStyle/>
          <a:p>
            <a:r>
              <a:rPr lang="en-US" sz="2400" b="1" dirty="0"/>
              <a:t>4. Admin Module:</a:t>
            </a:r>
            <a:br>
              <a:rPr lang="en-US" dirty="0"/>
            </a:br>
            <a:r>
              <a:rPr lang="en-US" sz="2000" dirty="0"/>
              <a:t>• Manages users and system data</a:t>
            </a:r>
            <a:br>
              <a:rPr lang="en-US" sz="2000" dirty="0"/>
            </a:br>
            <a:r>
              <a:rPr lang="en-US" sz="2000" dirty="0"/>
              <a:t>• Monitors chat and appointment activities</a:t>
            </a:r>
            <a:br>
              <a:rPr lang="en-US" sz="2000" dirty="0"/>
            </a:br>
            <a:r>
              <a:rPr lang="en-US" sz="2000" dirty="0"/>
              <a:t>• Provides analytics dashboards</a:t>
            </a:r>
            <a:br>
              <a:rPr lang="en-US" dirty="0"/>
            </a:br>
            <a:endParaRPr lang="en-US" dirty="0"/>
          </a:p>
          <a:p>
            <a:r>
              <a:rPr lang="en-US" sz="2400" b="1" dirty="0"/>
              <a:t>5. Location &amp; Emergency Module:</a:t>
            </a:r>
            <a:br>
              <a:rPr lang="en-US" dirty="0"/>
            </a:br>
            <a:r>
              <a:rPr lang="en-US" sz="2000" dirty="0"/>
              <a:t>• Detects emergency keywords and alerts users</a:t>
            </a:r>
            <a:br>
              <a:rPr lang="en-US" sz="2000" dirty="0"/>
            </a:br>
            <a:r>
              <a:rPr lang="en-US" sz="2000" dirty="0"/>
              <a:t>• Provides nearby hospital and doctor suggestions</a:t>
            </a:r>
            <a:br>
              <a:rPr lang="en-US" sz="2000" dirty="0"/>
            </a:br>
            <a:r>
              <a:rPr lang="en-US" sz="2000" dirty="0"/>
              <a:t>• Uses location services (OpenStreetMap API)</a:t>
            </a:r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  <p:transition>
    <p:split orient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ARCHITEXTURE</a:t>
            </a:r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"/>
          </p:nvPr>
        </p:nvPicPr>
        <p:blipFill>
          <a:blip r:embed="rId1"/>
          <a:stretch>
            <a:fillRect/>
          </a:stretch>
        </p:blipFill>
        <p:spPr>
          <a:xfrm>
            <a:off x="1295400" y="1600200"/>
            <a:ext cx="6248400" cy="5105400"/>
          </a:xfrm>
          <a:prstGeom prst="rect">
            <a:avLst/>
          </a:prstGeom>
        </p:spPr>
      </p:pic>
    </p:spTree>
  </p:cSld>
  <p:clrMapOvr>
    <a:masterClrMapping/>
  </p:clrMapOvr>
  <p:transition>
    <p:split orient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461375" cy="5038725"/>
          </a:xfrm>
        </p:spPr>
        <p:txBody>
          <a:bodyPr>
            <a:normAutofit/>
          </a:bodyPr>
          <a:lstStyle/>
          <a:p>
            <a:r>
              <a:rPr lang="en-IN" sz="2200" b="1" dirty="0"/>
              <a:t>1. Use Case Diagram</a:t>
            </a:r>
            <a:endParaRPr lang="en-IN" sz="2200" b="1" dirty="0"/>
          </a:p>
          <a:p>
            <a:r>
              <a:rPr lang="en-US" altLang="en-US" sz="2200" dirty="0"/>
              <a:t>Shows how different actors(users) interact with the AI Healthcare Chatbot system.</a:t>
            </a:r>
            <a:endParaRPr lang="en-IN" sz="2200" dirty="0"/>
          </a:p>
          <a:p>
            <a:pPr marL="0" indent="0">
              <a:buNone/>
            </a:pPr>
            <a:endParaRPr lang="en-US" altLang="en-US" sz="2200" dirty="0"/>
          </a:p>
          <a:p>
            <a:endParaRPr lang="en-US" altLang="en-US" sz="2200" dirty="0"/>
          </a:p>
          <a:p>
            <a:endParaRPr lang="en-IN" sz="2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4" t="6146" r="2378" b="20380"/>
          <a:stretch>
            <a:fillRect/>
          </a:stretch>
        </p:blipFill>
        <p:spPr>
          <a:xfrm>
            <a:off x="2514600" y="2590800"/>
            <a:ext cx="3168000" cy="3830187"/>
          </a:xfrm>
          <a:prstGeom prst="rect">
            <a:avLst/>
          </a:prstGeom>
        </p:spPr>
      </p:pic>
    </p:spTree>
  </p:cSld>
  <p:clrMapOvr>
    <a:masterClrMapping/>
  </p:clrMapOvr>
  <p:transition>
    <p:split orient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UML Diagram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" y="1616710"/>
            <a:ext cx="8731885" cy="5077460"/>
          </a:xfrm>
        </p:spPr>
        <p:txBody>
          <a:bodyPr>
            <a:noAutofit/>
          </a:bodyPr>
          <a:lstStyle/>
          <a:p>
            <a:r>
              <a:rPr lang="en-IN" sz="2200" b="1" dirty="0"/>
              <a:t>2.Class Diagram</a:t>
            </a:r>
            <a:r>
              <a:rPr lang="en-IN" sz="2200" dirty="0"/>
              <a:t>:</a:t>
            </a:r>
            <a:endParaRPr lang="en-IN" sz="2200" dirty="0"/>
          </a:p>
          <a:p>
            <a:pPr marL="0" indent="0">
              <a:buNone/>
            </a:pPr>
            <a:r>
              <a:rPr lang="en-US" sz="2200" b="1" dirty="0"/>
              <a:t> </a:t>
            </a:r>
            <a:r>
              <a:rPr lang="en-US" altLang="en-US" sz="2200" dirty="0"/>
              <a:t>Represents the structure of system classes and their relationships.</a:t>
            </a:r>
            <a:endParaRPr lang="en-US" altLang="en-US" sz="2200" dirty="0"/>
          </a:p>
          <a:p>
            <a:pPr marL="0" indent="0">
              <a:buNone/>
            </a:pPr>
            <a:endParaRPr lang="en-US" altLang="en-US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8363" y="2414988"/>
            <a:ext cx="3195638" cy="4252512"/>
          </a:xfrm>
          <a:prstGeom prst="rect">
            <a:avLst/>
          </a:prstGeom>
        </p:spPr>
      </p:pic>
    </p:spTree>
  </p:cSld>
  <p:clrMapOvr>
    <a:masterClrMapping/>
  </p:clrMapOvr>
  <p:transition>
    <p:split orient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8440" y="1600200"/>
            <a:ext cx="8547735" cy="5038725"/>
          </a:xfrm>
        </p:spPr>
        <p:txBody>
          <a:bodyPr>
            <a:normAutofit/>
          </a:bodyPr>
          <a:lstStyle/>
          <a:p>
            <a:r>
              <a:rPr lang="en-IN" sz="2400" b="1" dirty="0"/>
              <a:t>3.Sequence Diagram</a:t>
            </a:r>
            <a:endParaRPr lang="en-IN" sz="2400" b="1" dirty="0"/>
          </a:p>
          <a:p>
            <a:pPr marL="0" indent="0">
              <a:buNone/>
            </a:pPr>
            <a:r>
              <a:rPr lang="en-US" altLang="en-US" sz="2200" dirty="0"/>
              <a:t>• Shows the step-by-step interaction between system components.</a:t>
            </a:r>
            <a:endParaRPr lang="en-US" altLang="en-US" sz="2200" dirty="0"/>
          </a:p>
          <a:p>
            <a:pPr marL="0" indent="0">
              <a:buNone/>
            </a:pPr>
            <a:endParaRPr lang="en-US" altLang="en-US" sz="2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438400"/>
            <a:ext cx="4876800" cy="4200525"/>
          </a:xfrm>
          <a:prstGeom prst="rect">
            <a:avLst/>
          </a:prstGeom>
        </p:spPr>
      </p:pic>
    </p:spTree>
  </p:cSld>
  <p:clrMapOvr>
    <a:masterClrMapping/>
  </p:clrMapOvr>
  <p:transition>
    <p:split orient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648200"/>
          </a:xfrm>
        </p:spPr>
        <p:txBody>
          <a:bodyPr>
            <a:noAutofit/>
          </a:bodyPr>
          <a:lstStyle/>
          <a:p>
            <a:r>
              <a:rPr lang="en-IN" sz="2200" b="1" dirty="0"/>
              <a:t>4. Deployment Diagram</a:t>
            </a:r>
            <a:endParaRPr lang="en-IN" sz="2200" b="1" dirty="0"/>
          </a:p>
          <a:p>
            <a:pPr marL="0" indent="0">
              <a:buNone/>
            </a:pPr>
            <a:r>
              <a:rPr lang="en-US" altLang="en-US" sz="2200" dirty="0"/>
              <a:t>• Describes the physical architecture of the system.</a:t>
            </a:r>
            <a:endParaRPr lang="en-US" altLang="en-US" sz="2200" dirty="0"/>
          </a:p>
          <a:p>
            <a:pPr marL="0" indent="0">
              <a:buNone/>
            </a:pPr>
            <a:endParaRPr lang="en-US" altLang="en-US" sz="2200" dirty="0"/>
          </a:p>
          <a:p>
            <a:pPr marL="0" indent="0">
              <a:buNone/>
            </a:pPr>
            <a:endParaRPr lang="en-US" altLang="en-US" sz="2200" dirty="0"/>
          </a:p>
          <a:p>
            <a:endParaRPr lang="en-US" altLang="en-US" sz="9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500312"/>
            <a:ext cx="4876800" cy="4267201"/>
          </a:xfrm>
          <a:prstGeom prst="rect">
            <a:avLst/>
          </a:prstGeom>
        </p:spPr>
      </p:pic>
    </p:spTree>
  </p:cSld>
  <p:clrMapOvr>
    <a:masterClrMapping/>
  </p:clrMapOvr>
  <p:transition>
    <p:split orient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Output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Login/Registration page: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76" y="2439365"/>
            <a:ext cx="8232648" cy="3657600"/>
          </a:xfrm>
          <a:prstGeom prst="rect">
            <a:avLst/>
          </a:prstGeom>
        </p:spPr>
      </p:pic>
    </p:spTree>
  </p:cSld>
  <p:clrMapOvr>
    <a:masterClrMapping/>
  </p:clrMapOvr>
  <p:transition>
    <p:split orient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OUTPUT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User(Patient) Page: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11" y="2362200"/>
            <a:ext cx="8244000" cy="3992510"/>
          </a:xfrm>
          <a:prstGeom prst="rect">
            <a:avLst/>
          </a:prstGeom>
        </p:spPr>
      </p:pic>
    </p:spTree>
  </p:cSld>
  <p:clrMapOvr>
    <a:masterClrMapping/>
  </p:clrMapOvr>
  <p:transition>
    <p:split orient="ver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OUTPUT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User(Patient) Page: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48" y="2362200"/>
            <a:ext cx="8532000" cy="3957002"/>
          </a:xfrm>
          <a:prstGeom prst="rect">
            <a:avLst/>
          </a:prstGeom>
        </p:spPr>
      </p:pic>
    </p:spTree>
  </p:cSld>
  <p:clrMapOvr>
    <a:masterClrMapping/>
  </p:clrMapOvr>
  <p:transition>
    <p:split orient="ver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OUTPUT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User(Doctor) Page:</a:t>
            </a:r>
            <a:endParaRPr lang="en-IN" dirty="0"/>
          </a:p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" y="2362200"/>
            <a:ext cx="8280000" cy="3927135"/>
          </a:xfrm>
          <a:prstGeom prst="rect">
            <a:avLst/>
          </a:prstGeom>
        </p:spPr>
      </p:pic>
    </p:spTree>
  </p:cSld>
  <p:clrMapOvr>
    <a:masterClrMapping/>
  </p:clrMapOvr>
  <p:transition>
    <p:split orient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OUTPUT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Admin Page: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25" y="2362200"/>
            <a:ext cx="8460000" cy="3949763"/>
          </a:xfrm>
          <a:prstGeom prst="rect">
            <a:avLst/>
          </a:prstGeom>
        </p:spPr>
      </p:pic>
    </p:spTree>
  </p:cSld>
  <p:clrMapOvr>
    <a:masterClrMapping/>
  </p:clrMapOvr>
  <p:transition>
    <p:split orient="vert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OUTPUT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Admin Page: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52" y="2286000"/>
            <a:ext cx="8352000" cy="3949089"/>
          </a:xfrm>
          <a:prstGeom prst="rect">
            <a:avLst/>
          </a:prstGeom>
        </p:spPr>
      </p:pic>
    </p:spTree>
  </p:cSld>
  <p:clrMapOvr>
    <a:masterClrMapping/>
  </p:clrMapOvr>
  <p:transition>
    <p:split orient="vert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4800" dirty="0"/>
              <a:t>The project successfully develops a full-stack AI-powered healthcare chat assistant using modern technologies like Spring Boot and React.</a:t>
            </a:r>
            <a:endParaRPr lang="en-US" sz="4800" dirty="0"/>
          </a:p>
          <a:p>
            <a:r>
              <a:rPr lang="en-US" sz="4800" dirty="0"/>
              <a:t>It provides intelligent and real-time responses using advanced AI models such as Ollama and GPT-4.</a:t>
            </a:r>
            <a:endParaRPr lang="en-US" sz="4800" dirty="0"/>
          </a:p>
          <a:p>
            <a:r>
              <a:rPr lang="en-US" sz="4800" dirty="0"/>
              <a:t>The system supports multi-session chat with history, bilingual communication, and voice interaction, making it user-friendly and accessible.</a:t>
            </a:r>
            <a:endParaRPr lang="en-US" sz="4800" dirty="0"/>
          </a:p>
          <a:p>
            <a:r>
              <a:rPr lang="en-US" sz="4800" dirty="0"/>
              <a:t>Features like emergency detection and nearby hospital suggestions enhance its practical usability in real-world situations.</a:t>
            </a:r>
            <a:endParaRPr lang="en-US" sz="4800" dirty="0"/>
          </a:p>
          <a:p>
            <a:r>
              <a:rPr lang="en-US" sz="4800" dirty="0"/>
              <a:t>Role-based access for patients, doctors, and admins ensures better system management and functionality.</a:t>
            </a:r>
            <a:endParaRPr lang="en-US" sz="4800" dirty="0"/>
          </a:p>
          <a:p>
            <a:r>
              <a:rPr lang="en-US" sz="4800" dirty="0"/>
              <a:t>The use of secure authentication and scalable architecture makes the system reliable and efficient.</a:t>
            </a:r>
            <a:endParaRPr lang="en-US" sz="4800" dirty="0"/>
          </a:p>
          <a:p>
            <a:r>
              <a:rPr lang="en-US" sz="4800" dirty="0"/>
              <a:t>Overall, this project improves healthcare accessibility, reduces response time, and demonstrates how AI can be effectively integrated into modern healthcare systems.</a:t>
            </a:r>
            <a:endParaRPr lang="en-US" sz="4800" dirty="0"/>
          </a:p>
          <a:p>
            <a:endParaRPr lang="en-US" sz="3600" dirty="0"/>
          </a:p>
        </p:txBody>
      </p:sp>
    </p:spTree>
  </p:cSld>
  <p:clrMapOvr>
    <a:masterClrMapping/>
  </p:clrMapOvr>
  <p:transition>
    <p:split orient="vert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/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752600"/>
            <a:ext cx="8153400" cy="4495800"/>
          </a:xfrm>
        </p:spPr>
        <p:txBody>
          <a:bodyPr>
            <a:normAutofit fontScale="5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3300" dirty="0"/>
              <a:t>A. B. Kumar and R. S. Rao, “Artificial Intelligence Based Healthcare Chatbot Using NLP,” International Journal of Computer Applications, vol. 176, no. 25, pp. 1–6, 2021.</a:t>
            </a:r>
            <a:endParaRPr lang="en-IN" sz="3300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sz="3300" dirty="0"/>
              <a:t>S. Divya, S. Indumathi, and P. Sangeetha, “An Intelligent Chatbot for Healthcare Application,” International Journal of Engineering Research &amp; Technology (IJERT), vol. 9, no. 6, pp. 234–239, 2020.</a:t>
            </a:r>
            <a:endParaRPr lang="en-IN" sz="3300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sz="3300" dirty="0"/>
              <a:t>M. S. Islam, A. Hasan, and M. Rahman, “AI-Based Medical Chatbot Using Machine Learning,” International Journal of Advanced Computer Science and Applications, vol. 11, no. 4, pp. 112–118, 2022.</a:t>
            </a:r>
            <a:endParaRPr lang="en-IN" sz="3300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sz="3300" dirty="0"/>
              <a:t>A. Abirami and S. S. Chitra, “Disease Prediction System Using Machine Learning,” International Journal of Scientific Research in Computer Science, vol. 8, no. 3, pp. 45–50, 2019.</a:t>
            </a:r>
            <a:endParaRPr lang="en-IN" sz="3300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sz="3300" dirty="0"/>
              <a:t>R. S. Sutton and A. G. Barto, Introduction to Machine Learning in Healthcare, MIT Press, 2018.</a:t>
            </a:r>
            <a:endParaRPr lang="en-IN" sz="3300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sz="3300" dirty="0"/>
              <a:t>R. Smith and J. Doe, “Optical Character Recognition for Medical Prescription Analysis,” IEEE International Conference on Image Processing, pp. 456–460, 2019.</a:t>
            </a:r>
            <a:endParaRPr lang="en-IN" sz="3300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sz="3300" dirty="0"/>
              <a:t>T. M. Mitchell, Machine Learning, McGraw-Hill, New York, 2017.</a:t>
            </a:r>
            <a:endParaRPr lang="en-IN" sz="3300" dirty="0"/>
          </a:p>
          <a:p>
            <a:endParaRPr lang="en-IN" dirty="0"/>
          </a:p>
        </p:txBody>
      </p:sp>
    </p:spTree>
  </p:cSld>
  <p:clrMapOvr>
    <a:masterClrMapping/>
  </p:clrMapOvr>
  <p:transition>
    <p:split orient="vert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Research papers and articles related to:</a:t>
            </a:r>
            <a:endParaRPr lang="en-IN" sz="2400" b="1" dirty="0"/>
          </a:p>
          <a:p>
            <a:pPr lvl="1"/>
            <a:r>
              <a:rPr lang="en-IN" sz="2200" dirty="0"/>
              <a:t>AI in Healthcare</a:t>
            </a:r>
            <a:endParaRPr lang="en-IN" sz="2200" dirty="0"/>
          </a:p>
          <a:p>
            <a:pPr lvl="1"/>
            <a:r>
              <a:rPr lang="en-IN" sz="2200" dirty="0"/>
              <a:t>NLP-based Chatbot Systems</a:t>
            </a:r>
            <a:endParaRPr lang="en-IN" sz="2200" dirty="0"/>
          </a:p>
          <a:p>
            <a:pPr lvl="1"/>
            <a:r>
              <a:rPr lang="en-IN" sz="2200" dirty="0"/>
              <a:t>Disease Prediction using Machine Learning</a:t>
            </a:r>
            <a:endParaRPr lang="en-IN" sz="2200" dirty="0"/>
          </a:p>
          <a:p>
            <a:r>
              <a:rPr lang="en-IN" sz="2200" dirty="0"/>
              <a:t>Online medical symptom datasets used for training and testing (as applicable).</a:t>
            </a:r>
            <a:endParaRPr lang="en-IN" sz="2200" dirty="0"/>
          </a:p>
          <a:p>
            <a:r>
              <a:rPr lang="en-IN" sz="2200" dirty="0"/>
              <a:t>Confusion Matrix and Accuracy evaluation methods from standard ML textbooks/tutorials.</a:t>
            </a:r>
            <a:endParaRPr lang="en-IN" sz="2200" dirty="0"/>
          </a:p>
          <a:p>
            <a:endParaRPr lang="en-IN" dirty="0"/>
          </a:p>
        </p:txBody>
      </p:sp>
    </p:spTree>
  </p:cSld>
  <p:clrMapOvr>
    <a:masterClrMapping/>
  </p:clrMapOvr>
  <p:transition>
    <p:split orient="vert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you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>
    <p:split orient="vert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0</TotalTime>
  <Words>9506</Words>
  <Application>WPS Presentation</Application>
  <PresentationFormat>On-screen Show (4:3)</PresentationFormat>
  <Paragraphs>272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Arial</vt:lpstr>
      <vt:lpstr>SimSun</vt:lpstr>
      <vt:lpstr>Wingdings</vt:lpstr>
      <vt:lpstr>Wingdings</vt:lpstr>
      <vt:lpstr>Wingdings 2</vt:lpstr>
      <vt:lpstr>Wingdings</vt:lpstr>
      <vt:lpstr>Tw Cen MT</vt:lpstr>
      <vt:lpstr>Microsoft YaHei</vt:lpstr>
      <vt:lpstr>Arial Unicode MS</vt:lpstr>
      <vt:lpstr>Calibri</vt:lpstr>
      <vt:lpstr>Times New Roman</vt:lpstr>
      <vt:lpstr>Median</vt:lpstr>
      <vt:lpstr>Performance Analysis of AI Enabled Healthcare Chatbot</vt:lpstr>
      <vt:lpstr>OUTLINE</vt:lpstr>
      <vt:lpstr>ABSTRACT</vt:lpstr>
      <vt:lpstr>INTRODUCTION</vt:lpstr>
      <vt:lpstr>PROBLEM STATEMENT</vt:lpstr>
      <vt:lpstr>EXISTING SYSTEM</vt:lpstr>
      <vt:lpstr>DISADVANTAGES</vt:lpstr>
      <vt:lpstr>PROPOSED SYSTEM</vt:lpstr>
      <vt:lpstr>ADVANTAGES</vt:lpstr>
      <vt:lpstr>SYSTEM REQUIREMENTS</vt:lpstr>
      <vt:lpstr>MODULES OF  HEALTHCARE CHATBOT</vt:lpstr>
      <vt:lpstr>MODULES OF HEALTHCARE CHATBOT </vt:lpstr>
      <vt:lpstr>SYSTEM ARCHITEXTURE</vt:lpstr>
      <vt:lpstr>UML Diagram</vt:lpstr>
      <vt:lpstr>UML Diagram</vt:lpstr>
      <vt:lpstr>UML Diagram</vt:lpstr>
      <vt:lpstr>UML Diagram</vt:lpstr>
      <vt:lpstr>                   Output</vt:lpstr>
      <vt:lpstr>                  OUTPUT</vt:lpstr>
      <vt:lpstr>                  OUTPUT</vt:lpstr>
      <vt:lpstr>                  OUTPUT</vt:lpstr>
      <vt:lpstr>                  OUTPUT</vt:lpstr>
      <vt:lpstr>                  OUTPUT</vt:lpstr>
      <vt:lpstr>CONCLUSION</vt:lpstr>
      <vt:lpstr>REFERENCES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Mona: Secure Multi-Owner Data Sharing for Dynamic Groups in the Cloud</dc:title>
  <dc:creator>MSM Technologies</dc:creator>
  <cp:lastModifiedBy>lavan</cp:lastModifiedBy>
  <cp:revision>139</cp:revision>
  <dcterms:created xsi:type="dcterms:W3CDTF">2006-08-16T00:00:00Z</dcterms:created>
  <dcterms:modified xsi:type="dcterms:W3CDTF">2026-04-08T08:29:43Z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D5D2770E2E264A1FADF1C5B69828500A_13</vt:lpwstr>
  </property>
  <property fmtid="{D5CDD505-2E9C-101B-9397-08002B2CF9AE}" pid="3" name="KSOProductBuildVer">
    <vt:lpwstr>1033-12.1.0.25830</vt:lpwstr>
  </property>
</Properties>
</file>